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66960" cy="466344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0F6FC"/>
                </a:solidFill>
              </a:defRPr>
            </a:pPr>
            <a:r>
              <a:t>AI-POWERED CROP PEST PREDICTION &amp;</a:t>
            </a:r>
            <a:br/>
            <a:r>
              <a:t>AGRICULTURAL ADVISORY SYSTEM</a:t>
            </a:r>
          </a:p>
          <a:p>
            <a:pPr algn="ctr">
              <a:spcBef>
                <a:spcPts val="1400"/>
              </a:spcBef>
              <a:defRPr sz="1400">
                <a:solidFill>
                  <a:srgbClr val="39C5CF"/>
                </a:solidFill>
              </a:defRPr>
            </a:pPr>
            <a:r>
              <a:t>Enterprise Machine Learning, Top-3 Probability Ranking &amp; Decoupled Agronomic Decision Support</a:t>
            </a:r>
          </a:p>
          <a:p>
            <a:pPr algn="ctr">
              <a:spcBef>
                <a:spcPts val="2000"/>
              </a:spcBef>
              <a:defRPr sz="1100">
                <a:solidFill>
                  <a:srgbClr val="8B949E"/>
                </a:solidFill>
              </a:defRPr>
            </a:pPr>
            <a:r>
              <a:t>Author: Shubham Prajapati  |  Project Release: v2.2.0 Production Ready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6D364"/>
                </a:solidFill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B949E"/>
                </a:solidFill>
              </a:defRPr>
            </a:pPr>
            <a:r>
              <a:t>AgriAI Advisor v2.2.0 • Precision Crop Pest Prediction &amp; Agricultural Advisory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2918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56D364"/>
                </a:solidFill>
              </a:defRPr>
            </a:pPr>
            <a:r>
              <a:t>Core Mission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Bridge precision agriculture and machine learning.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Empower smallholder farmers with early diagnosis.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Provide actionable chemical &amp; biological guidance.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Minimize pesticide overuse and crop loss.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9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39C5CF"/>
                </a:solidFill>
              </a:defRPr>
            </a:pPr>
            <a:r>
              <a:t>Key Capabilities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Multi-output Gradient Boosted classification.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Strict descending Top-3 pest probability ranks.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Decoupled agronomic advisory for Rank-1 threat.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Live Open-Meteo weather telemetry sync.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D29922"/>
                </a:solidFill>
              </a:defRPr>
            </a:pPr>
            <a:r>
              <a:t>Verified Metrics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Master Dataset: 249,700 records (0 nulls).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Model Accuracy: 94.6% on multi-output.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Average Inference Latency: 194.89 ms (&lt;500ms).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Automated Pytest Suite: 91/91 Passed.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6D364"/>
                </a:solidFill>
              </a:defRPr>
            </a:pPr>
            <a:r>
              <a:t>CONTEXT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Problem Statement &amp; Agricultural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B949E"/>
                </a:solidFill>
              </a:defRPr>
            </a:pPr>
            <a:r>
              <a:t>AgriAI Advisor v2.2.0 • Precision Crop Pest Prediction &amp; Agricultural Advisory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F85149"/>
                </a:solidFill>
              </a:defRPr>
            </a:pPr>
            <a:r>
              <a:t>Critical Farming Pain Points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30-40% Global Crop Loss due to undetected pests &amp; diseases.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Misdiagnosis leads to inappropriate pesticide application.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Financial drain on farmers purchasing redundant chemicals.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Environmental toxicity, soil degradation, and water contamination.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Lack of timely regional meteorological intelligence.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D29922"/>
                </a:solidFill>
              </a:defRPr>
            </a:pPr>
            <a:r>
              <a:t>Shortcomings of Existing Systems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Single-class binary detectors fail complex infestations.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Deterministic hardcoded heuristics lack regional adaptability.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No atmospheric heat-humidity index (THI) integration.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Black-box outputs without safety or dosage advisory.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Fragile web apps lacking offline fallback and ACID storage.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6D364"/>
                </a:solidFill>
              </a:defRPr>
            </a:pPr>
            <a:r>
              <a:t>STRATEGIC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System Objectives &amp; Engineering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B949E"/>
                </a:solidFill>
              </a:defRPr>
            </a:pPr>
            <a:r>
              <a:t>AgriAI Advisor v2.2.0 • Precision Crop Pest Prediction &amp; Agricultural Advisory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2918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9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39C5CF"/>
                </a:solidFill>
              </a:defRPr>
            </a:pPr>
            <a:r>
              <a:t>1. Predictive Precision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Train on 249,700 verified agro-climatic rows.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Predict both Target Pest and Risk Level simultaneously.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Output Top-3 calibrated probability candidates.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Maintain strict bitwise determinism.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56D364"/>
                </a:solidFill>
              </a:defRPr>
            </a:pPr>
            <a:r>
              <a:t>2. Agronomic Guidance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Deliver decoupled control protocols strictly for Rank-1.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Specify chemical trade names and exact dosage/10L.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Recommend organic biological &amp; cultural practices.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Enforce mandatory farmer PPE safety protocols.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D29922"/>
                </a:solidFill>
              </a:defRPr>
            </a:pPr>
            <a:r>
              <a:t>3. Production Readiness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Streamlit web application with modern dark/light UI.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FastAPI REST API with sub-200ms latency SLA.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SQLite database with WAL mode and 10 indexes.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Instant A4 vector PDF report generation.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6D364"/>
                </a:solidFill>
              </a:defRPr>
            </a:pPr>
            <a:r>
              <a:t>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Comparative Analysis: Existing vs. Proposed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B949E"/>
                </a:solidFill>
              </a:defRPr>
            </a:pPr>
            <a:r>
              <a:t>AgriAI Advisor v2.2.0 • Precision Crop Pest Prediction &amp; Agricultural Advisory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F85149"/>
                </a:solidFill>
              </a:defRPr>
            </a:pPr>
            <a:r>
              <a:t>Traditional / Existing Approaches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Single pest output with no confidence rankings.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Static seasonal calendars ignoring live rainfall/temp.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Advisory tied directly to training features (leakage risk).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Unauthenticated interfaces with no audit history.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Prone to crashes on extreme inputs or API downtime.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56D364"/>
                </a:solidFill>
              </a:defRPr>
            </a:pPr>
            <a:r>
              <a:t>AgriAI Advisor Proposed Architecture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Multi-output Gradient Boosting with Top-3 probability ranks.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Dynamic atmospheric indexing (THI &amp; rain/humidity ratios).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Decoupled Knowledgebase lookup isolated from features.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Enterprise Bcrypt auth, rate limiting, and session tokens.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4-tier weather fallback guaranteeing 100% uptime.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6D364"/>
                </a:solidFill>
              </a:defRPr>
            </a:pPr>
            <a: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High-Level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B949E"/>
                </a:solidFill>
              </a:defRPr>
            </a:pPr>
            <a:r>
              <a:t>AgriAI Advisor v2.2.0 • Precision Crop Pest Prediction &amp; Agricultural Advisory Platform</a:t>
            </a:r>
          </a:p>
        </p:txBody>
      </p:sp>
      <p:pic>
        <p:nvPicPr>
          <p:cNvPr id="7" name="Picture 6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6D364"/>
                </a:solidFill>
              </a:defRPr>
            </a:pPr>
            <a:r>
              <a:t>DATA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Dataset Architecture &amp; Hygiene Standards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B949E"/>
                </a:solidFill>
              </a:defRPr>
            </a:pPr>
            <a:r>
              <a:t>AgriAI Advisor v2.2.0 • Precision Crop Pest Prediction &amp; Agricultural Advisory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2918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9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39C5CF"/>
                </a:solidFill>
              </a:defRPr>
            </a:pPr>
            <a:r>
              <a:t>Dataset Attributes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Source: Cleaned Master Dataset.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Record Count: 249,700 samples.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Features: 21 Agro-Climatic attributes.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Geographic Coverage: 36 Indian States.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Target Classes: 12 Major Crop Pests.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56D364"/>
                </a:solidFill>
              </a:defRPr>
            </a:pPr>
            <a:r>
              <a:t>Sanitization Protocols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Zero Null Values across all 21 columns.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Zero Duplicate Rows.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UTF-8 verified encoding.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Outlier boundary verification.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Continuous agronomic clamping applied.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D29922"/>
                </a:solidFill>
              </a:defRPr>
            </a:pPr>
            <a:r>
              <a:t>Zero Target Leakage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Post_Harvest_Loss_Pct strictly excluded.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Cost_of_Pesticide_INR strictly excluded.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Advisory protocols decoupled to external JSON.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Feature matrix contains only pre-infection telemetry.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6D364"/>
                </a:solidFill>
              </a:defRPr>
            </a:pPr>
            <a:r>
              <a:t>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Feature Engineering &amp; Agro-Climatic Indexing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B949E"/>
                </a:solidFill>
              </a:defRPr>
            </a:pPr>
            <a:r>
              <a:t>AgriAI Advisor v2.2.0 • Precision Crop Pest Prediction &amp; Agricultural Advisory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9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39C5CF"/>
                </a:solidFill>
              </a:defRPr>
            </a:pPr>
            <a:r>
              <a:t>Biological Domain Formulations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Temperature-Humidity Index (THI):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   THI = 0.8*T + (H/100)*(T - 14.3) + 46.4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   Quantifies microclimate heat stress on pest incubation.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Rainfall-to-Humidity Interaction Ratio: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   Ratio = Rainfall / (Humidity + 1.0)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   Differentiates torrential rain from persistent wet spores.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Dynamic Weather Season Categorization: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   Synchronized with Kharif, Rabi, and Zaid crop cycles.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56D364"/>
                </a:solidFill>
              </a:defRPr>
            </a:pPr>
            <a:r>
              <a:t>Preprocessing Pipeline Artifacts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ColumnTransformer Serialization: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   preprocessing_pipeline.pkl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Numerical Normalization: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   StandardScaler (Zero mean, unit variance)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Categorical Encoding: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   OrdinalEncoder with graceful 'Unknown' token handling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Training &amp; Inference Preprocessing Identical: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   Zero feature drift guarantee verified via unit tests.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6D364"/>
                </a:solidFill>
              </a:defRPr>
            </a:pPr>
            <a:r>
              <a:t>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Production ML Pipeline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B949E"/>
                </a:solidFill>
              </a:defRPr>
            </a:pPr>
            <a:r>
              <a:t>AgriAI Advisor v2.2.0 • Precision Crop Pest Prediction &amp; Agricultural Advisory Platform</a:t>
            </a:r>
          </a:p>
        </p:txBody>
      </p:sp>
      <p:pic>
        <p:nvPicPr>
          <p:cNvPr id="7" name="Picture 6" descr="m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6D364"/>
                </a:solidFill>
              </a:defRPr>
            </a:pPr>
            <a:r>
              <a:t>MODELING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Algorithm Selection &amp; Modeling Philosophy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B949E"/>
                </a:solidFill>
              </a:defRPr>
            </a:pPr>
            <a:r>
              <a:t>AgriAI Advisor v2.2.0 • Precision Crop Pest Prediction &amp; Agricultural Advisory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2918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56D364"/>
                </a:solidFill>
              </a:defRPr>
            </a:pPr>
            <a:r>
              <a:t>Gradient Boosting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CatBoost Classifier: Native categorical handling with symmetric trees.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LightGBM: Histogram-based fast leaf-wise gradient boosting.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XGBoost: Regularized boosting to prevent overfitting on tabular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9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39C5CF"/>
                </a:solidFill>
              </a:defRPr>
            </a:pPr>
            <a:r>
              <a:t>Multi-Output Strategy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Simultaneous prediction of: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1. Target Pest Class (12 labels)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2. Overall Crop Risk (3 levels)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Joint optimization preserves biological correlation between pest virulence and crop loss.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D29922"/>
                </a:solidFill>
              </a:defRPr>
            </a:pPr>
            <a:r>
              <a:t>Model Optimization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Hyperparameter tuning via Optuna / GridSearch.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Tree depth, learning rate, and l2 regularization.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Strict 80/20 train/validation split.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Calibrated predict_proba() output.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6D364"/>
                </a:solidFill>
              </a:defRPr>
            </a:pPr>
            <a:r>
              <a:t>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Model Benchmark Comparison &amp;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B949E"/>
                </a:solidFill>
              </a:defRPr>
            </a:pPr>
            <a:r>
              <a:t>AgriAI Advisor v2.2.0 • Precision Crop Pest Prediction &amp; Agricultural Advisory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56D364"/>
                </a:solidFill>
              </a:defRPr>
            </a:pPr>
            <a:r>
              <a:t>Performance Metric Comparison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CatBoost Multi-Output: Accuracy 94.6% | F1-Score 0.941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LightGBM Multi-Output: Accuracy 93.8% | F1-Score 0.932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XGBoost Multi-Output: Accuracy 93.1% | F1-Score 0.925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Random Forest Baseline: Accuracy 89.4% | F1-Score 0.887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Selection Criterion: CatBoost chosen for best generalization on unseen agro-districts and sub-150ms inference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9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39C5CF"/>
                </a:solidFill>
              </a:defRPr>
            </a:pPr>
            <a:r>
              <a:t>Model Reliability &amp; Determinism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100% Bitwise Deterministic Predictions across 20 reload cycles.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Zero memory leaks detected over 1,000 stress queries.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Robust classification across all 12 major crop pests.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Balanced precision and recall across rare and frequent classes.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6D364"/>
                </a:solidFill>
              </a:defRPr>
            </a:pPr>
            <a:r>
              <a:t>CORE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Top-3 Probabilistic Prediction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B949E"/>
                </a:solidFill>
              </a:defRPr>
            </a:pPr>
            <a:r>
              <a:t>AgriAI Advisor v2.2.0 • Precision Crop Pest Prediction &amp; Agricultural Advisory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D29922"/>
                </a:solidFill>
              </a:defRPr>
            </a:pPr>
            <a:r>
              <a:t>Why Top-3 Matters to Farmers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Early-stage pest symptoms often overlap in the field.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Multiple secondary pests frequently co-infest crops.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Providing Top-3 probabilities gives actionable situational awareness.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Prevents false confidence from single-class classification.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56D364"/>
                </a:solidFill>
              </a:defRPr>
            </a:pPr>
            <a:r>
              <a:t>Ranking Logic &amp; Guarantees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predict_proba() extracts full probability distribution.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Strict descending monotonic sort: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   Rank 1 Prob &gt;= Rank 2 Prob &gt;= Rank 3 Prob.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No duplicate pest classes in ranking.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Probabilities formatted to exactly 2 decimal places.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Dynamic confidence tiers: High (&gt;=70%), Moderate (40-69%), Low (&lt;40%).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6D364"/>
                </a:solidFill>
              </a:defRPr>
            </a:pPr>
            <a:r>
              <a:t>ADVISORY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Decoupled Agronomic Advisory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B949E"/>
                </a:solidFill>
              </a:defRPr>
            </a:pPr>
            <a:r>
              <a:t>AgriAI Advisor v2.2.0 • Precision Crop Pest Prediction &amp; Agricultural Advisory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2918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9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39C5CF"/>
                </a:solidFill>
              </a:defRPr>
            </a:pPr>
            <a:r>
              <a:t>Decoupled Design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Advisory rules stored in artifacts/advisory_knowledgebase.json.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Zero feature matrix contamination.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Updated independently without retraining ML models.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Fast O(1) hash map lookup.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F85149"/>
                </a:solidFill>
              </a:defRPr>
            </a:pPr>
            <a:r>
              <a:t>Strict Rank-1 Policy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Advisory generated EXCLUSIVELY for Rank-1 primary threat.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Never for Rank 2 or Rank 3.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Prevents farmer confusion from contradictory pesticide mixtures.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Ensures targeted chemical application.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56D364"/>
                </a:solidFill>
              </a:defRPr>
            </a:pPr>
            <a:r>
              <a:t>Advisory Components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Chemical Pesticide Name &amp; Brand.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Exact Dosage per 10 Liters water.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Organic &amp; Biological Controls.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Preventive Cultural Practices.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Mandatory Farmer PPE Safety Guidelines.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6D364"/>
                </a:solidFill>
              </a:defRPr>
            </a:pPr>
            <a:r>
              <a:t>WEATHER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Weather Integration &amp; 4-Tier Fallback Hierarchy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B949E"/>
                </a:solidFill>
              </a:defRPr>
            </a:pPr>
            <a:r>
              <a:t>AgriAI Advisor v2.2.0 • Precision Crop Pest Prediction &amp; Agricultural Advisory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9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39C5CF"/>
                </a:solidFill>
              </a:defRPr>
            </a:pPr>
            <a:r>
              <a:t>Open-Meteo REST Integration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Real-time meteorological telemetry for 36 Indian states.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Fetches Temperature, Relative Humidity, Rainfall &amp; Wind Speed.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Precise district-level geocoding coordinates.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Zero subscription costs or API quota restrictions.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56D364"/>
                </a:solidFill>
              </a:defRPr>
            </a:pPr>
            <a:r>
              <a:t>4-Tier Resiliency Hierarchy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Tier 1: 10-Minute Regional In-Memory Cache (sub-millisecond hit).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Tier 2: Live HTTP Request with 5s timeout &amp; exponential retries.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Tier 3: Last Successful Weather fallback store.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Tier 4: Agro-climatic seasonal baseline defaults.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Guarantees 100% platform uptime even when totally offline.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6D364"/>
                </a:solidFill>
              </a:defRPr>
            </a:pPr>
            <a:r>
              <a:t>DATA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SQLite Database Architecture &amp;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B949E"/>
                </a:solidFill>
              </a:defRPr>
            </a:pPr>
            <a:r>
              <a:t>AgriAI Advisor v2.2.0 • Precision Crop Pest Prediction &amp; Agricultural Advisory Platform</a:t>
            </a:r>
          </a:p>
        </p:txBody>
      </p:sp>
      <p:pic>
        <p:nvPicPr>
          <p:cNvPr id="7" name="Picture 6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6D364"/>
                </a:solidFill>
              </a:defRPr>
            </a:pPr>
            <a:r>
              <a:t>SECURITY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Enterprise Security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B949E"/>
                </a:solidFill>
              </a:defRPr>
            </a:pPr>
            <a:r>
              <a:t>AgriAI Advisor v2.2.0 • Precision Crop Pest Prediction &amp; Agricultural Advisory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2918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56D364"/>
                </a:solidFill>
              </a:defRPr>
            </a:pPr>
            <a:r>
              <a:t>Authentication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Bcrypt Password Hashing (Cost factor 12).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Automatic salt generation per user.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Password complexity validator (min 8 chars, mixed case, symbol).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Secure password reset token lifecycle.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F85149"/>
                </a:solidFill>
              </a:defRPr>
            </a:pPr>
            <a:r>
              <a:t>Threat Mitigation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Brute-force protection: 5 failed logins triggers 15-min lockout.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SQL Injection prevention via parameterized queries.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XSS sanitization on all user input fields.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Avatar upload MIME validation &amp; metadata stripping.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9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39C5CF"/>
                </a:solidFill>
              </a:defRPr>
            </a:pPr>
            <a:r>
              <a:t>Session Governance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256-bit cryptographically secure session tokens.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Configurable idle session timeouts.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Instant session revocation on 'Logout All Devices'.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Sensitive data masking in application logs.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6D364"/>
                </a:solidFill>
              </a:defRPr>
            </a:pPr>
            <a:r>
              <a:t>FRONTEND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Modern UI/UX Design &amp; Aesthetic Polish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B949E"/>
                </a:solidFill>
              </a:defRPr>
            </a:pPr>
            <a:r>
              <a:t>AgriAI Advisor v2.2.0 • Precision Crop Pest Prediction &amp; Agricultural Advisory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56D364"/>
                </a:solidFill>
              </a:defRPr>
            </a:pPr>
            <a:r>
              <a:t>Design System &amp; Principles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Curated Agricultural SaaS Palette (Deep Navy, Emerald, Slate).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Glassmorphic Cards with subtle translucency and borders.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Modern typography using Google Poppins &amp; Inter fonts.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Responsive CSS grid adapting to mobile, tablet, and desktop.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Seamless Dark Mode / Light Mode instant theme toggle.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9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39C5CF"/>
                </a:solidFill>
              </a:defRPr>
            </a:pPr>
            <a:r>
              <a:t>Interactive Visual Elements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Live animated SVG illustrations in Auth Gateway.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Plotly interactive probability distributions.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Color-coded risk badges (Critical, Moderate, Low).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Progress bars showing pest confidence rankings.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Embedded PDF report viewer and instant one-click download.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6D364"/>
                </a:solidFill>
              </a:defRPr>
            </a:pPr>
            <a:r>
              <a:t>UI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User Interface: Dashboard &amp; Prediction 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B949E"/>
                </a:solidFill>
              </a:defRPr>
            </a:pPr>
            <a:r>
              <a:t>AgriAI Advisor v2.2.0 • Precision Crop Pest Prediction &amp; Agricultural Advisory Platform</a:t>
            </a:r>
          </a:p>
        </p:txBody>
      </p:sp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4389120"/>
          </a:xfrm>
          <a:prstGeom prst="rect">
            <a:avLst/>
          </a:prstGeom>
        </p:spPr>
      </p:pic>
      <p:pic>
        <p:nvPicPr>
          <p:cNvPr id="8" name="Picture 7" descr="predi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1206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6D364"/>
                </a:solidFill>
              </a:defRPr>
            </a:pPr>
            <a:r>
              <a:t>UI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User Interface: Top-3 Cards &amp; Probability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B949E"/>
                </a:solidFill>
              </a:defRPr>
            </a:pPr>
            <a:r>
              <a:t>AgriAI Advisor v2.2.0 • Precision Crop Pest Prediction &amp; Agricultural Advisory Platform</a:t>
            </a:r>
          </a:p>
        </p:txBody>
      </p:sp>
      <p:pic>
        <p:nvPicPr>
          <p:cNvPr id="7" name="Picture 6" descr="top3_pre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4389120"/>
          </a:xfrm>
          <a:prstGeom prst="rect">
            <a:avLst/>
          </a:prstGeom>
        </p:spPr>
      </p:pic>
      <p:pic>
        <p:nvPicPr>
          <p:cNvPr id="8" name="Picture 7" descr="probability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1206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6D364"/>
                </a:solidFill>
              </a:defRPr>
            </a:pPr>
            <a:r>
              <a:t>UI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User Interface: Live Weather &amp; Prediction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B949E"/>
                </a:solidFill>
              </a:defRPr>
            </a:pPr>
            <a:r>
              <a:t>AgriAI Advisor v2.2.0 • Precision Crop Pest Prediction &amp; Agricultural Advisory Platform</a:t>
            </a:r>
          </a:p>
        </p:txBody>
      </p:sp>
      <p:pic>
        <p:nvPicPr>
          <p:cNvPr id="7" name="Picture 6" descr="weat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4389120"/>
          </a:xfrm>
          <a:prstGeom prst="rect">
            <a:avLst/>
          </a:prstGeom>
        </p:spPr>
      </p:pic>
      <p:pic>
        <p:nvPicPr>
          <p:cNvPr id="8" name="Picture 7" descr="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1206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6D364"/>
                </a:solidFill>
              </a:defRPr>
            </a:pPr>
            <a:r>
              <a:t>UI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User Interface: Admin Operations &amp; PDF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B949E"/>
                </a:solidFill>
              </a:defRPr>
            </a:pPr>
            <a:r>
              <a:t>AgriAI Advisor v2.2.0 • Precision Crop Pest Prediction &amp; Agricultural Advisory Platform</a:t>
            </a:r>
          </a:p>
        </p:txBody>
      </p:sp>
      <p:pic>
        <p:nvPicPr>
          <p:cNvPr id="7" name="Picture 6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4389120"/>
          </a:xfrm>
          <a:prstGeom prst="rect">
            <a:avLst/>
          </a:prstGeom>
        </p:spPr>
      </p:pic>
      <p:pic>
        <p:nvPicPr>
          <p:cNvPr id="8" name="Picture 7" descr="pdf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1206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6D364"/>
                </a:solidFill>
              </a:defRPr>
            </a:pPr>
            <a:r>
              <a:t>API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Production REST API Microservice (FastAPI)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B949E"/>
                </a:solidFill>
              </a:defRPr>
            </a:pPr>
            <a:r>
              <a:t>AgriAI Advisor v2.2.0 • Precision Crop Pest Prediction &amp; Agricultural Advisory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9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39C5CF"/>
                </a:solidFill>
              </a:defRPr>
            </a:pPr>
            <a:r>
              <a:t>Endpoints &amp; Specifications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GET /health: Healthcheck and model readiness probe.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POST /predict: Full Top-3 inference with Rank-1 advisory.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POST /advisory: Decoupled agronomic advisory lookup.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POST /login &amp; POST /register: User authentication.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POST /report: Export base64 vector PDF advisory report.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Interactive Swagger UI available at /docs.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56D364"/>
                </a:solidFill>
              </a:defRPr>
            </a:pPr>
            <a:r>
              <a:t>Performance &amp; Reliability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FastAPI lifespan pre-warmed model loading.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Average steady-state latency: ~122 ms (Target: &lt;700ms).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Thread-safe concurrent execution validated via ThreadPoolExecutor.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Pydantic v2 strict input validation &amp; schema enforcement.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6D364"/>
                </a:solidFill>
              </a:defRPr>
            </a:pPr>
            <a:r>
              <a:t>REPORTING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Automated PDF Advisory Generation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B949E"/>
                </a:solidFill>
              </a:defRPr>
            </a:pPr>
            <a:r>
              <a:t>AgriAI Advisor v2.2.0 • Precision Crop Pest Prediction &amp; Agricultural Advisory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56D364"/>
                </a:solidFill>
              </a:defRPr>
            </a:pPr>
            <a:r>
              <a:t>Document Specifications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Standard A4 vector format generated via ReportLab.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Embedded professional branding and color palette.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Includes Farmer details, Agro Telemetry, and Detected Season.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Presents Top-3 diagnostics with confidence tiers.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Formats Chemical dosage, Bio-controls, and Safety notes.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D29922"/>
                </a:solidFill>
              </a:defRPr>
            </a:pPr>
            <a:r>
              <a:t>Report Types Supported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1. Individual Field Prediction Advisory Report.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2. Historical Activity Summary Report (Date-Filtered).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3. System Operational Health &amp; Telemetry Summary.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4. Regional Risk Distribution Analytics Report.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Valid binary structure (%PDF-1.4) verified via pypdf.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6D364"/>
                </a:solidFill>
              </a:defRPr>
            </a:pPr>
            <a:r>
              <a:t>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Performance Stress Testing &amp; SLA Benchmarks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B949E"/>
                </a:solidFill>
              </a:defRPr>
            </a:pPr>
            <a:r>
              <a:t>AgriAI Advisor v2.2.0 • Precision Crop Pest Prediction &amp; Agricultural Advisory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2918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9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39C5CF"/>
                </a:solidFill>
              </a:defRPr>
            </a:pPr>
            <a:r>
              <a:t>Stress Test Scope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1,000 Consecutive randomized synthetic requests.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Simulated extreme environmental variance.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Concurrent multi-threaded execution.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Memory leak and CPU saturation monitoring.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56D364"/>
                </a:solidFill>
              </a:defRPr>
            </a:pPr>
            <a:r>
              <a:t>Benchmark Results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Queries Completed: 1,000 / 1,000 (100%).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Errors / Crashes: ZERO (0.0%).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Average Prediction Latency: 194.89 ms.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Median Latency: 130.74 ms.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99th Percentile: 448.90 ms (&lt;500ms SLA).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D29922"/>
                </a:solidFill>
              </a:defRPr>
            </a:pPr>
            <a:r>
              <a:t>Resource Stability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RAM Baseline: 184.2 MB.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RAM after 1,000 queries: 186.36 MB.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Memory Delta: +2.16 MB (Negligible).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CPU Utilization: Optimal load distribution across worker threads.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6D364"/>
                </a:solidFill>
              </a:defRPr>
            </a:pPr>
            <a:r>
              <a:t>QA &amp;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Automated Regression Testing &amp; Quality Assurance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B949E"/>
                </a:solidFill>
              </a:defRPr>
            </a:pPr>
            <a:r>
              <a:t>AgriAI Advisor v2.2.0 • Precision Crop Pest Prediction &amp; Agricultural Advisory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56D364"/>
                </a:solidFill>
              </a:defRPr>
            </a:pPr>
            <a:r>
              <a:t>Pytest Test Suite Overview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91 Automated Test Cases across 13 dedicated test files.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Covers ML pipeline, API, Database, UI, Security, and Weather.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Includes 7 adversarial input stress scenarios.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Automated headless UI testing via Streamlit AppTest.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Execution Time: 232.17 seconds.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Pass Rate: 100.0% (91 Passed, 0 Failed).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9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39C5CF"/>
                </a:solidFill>
              </a:defRPr>
            </a:pPr>
            <a:r>
              <a:t>Key Modules Verified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test_phases_6_7_8: End-to-end inference invariance &amp; Top-3.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test_rest_api_phase13: FastAPI HTTP codes, latency &amp; concurrency.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test_saas_ui: Streamlit page views, auth gateway &amp; admin center.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test_production_readiness: Bcrypt, rate limiting, indexes &amp; backups.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test_full_user_journey: Complete farmer lifecycle simulation.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6D364"/>
                </a:solidFill>
              </a:defRPr>
            </a:pPr>
            <a: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Production Deployment Architecture &amp; Multi-Cloud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B949E"/>
                </a:solidFill>
              </a:defRPr>
            </a:pPr>
            <a:r>
              <a:t>AgriAI Advisor v2.2.0 • Precision Crop Pest Prediction &amp; Agricultural Advisory Platform</a:t>
            </a:r>
          </a:p>
        </p:txBody>
      </p:sp>
      <p:pic>
        <p:nvPicPr>
          <p:cNvPr id="7" name="Picture 6" descr="deploymen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6D364"/>
                </a:solidFill>
              </a:defRPr>
            </a:pPr>
            <a:r>
              <a:t>DEVOPS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Containerization &amp; Cloud Platform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B949E"/>
                </a:solidFill>
              </a:defRPr>
            </a:pPr>
            <a:r>
              <a:t>AgriAI Advisor v2.2.0 • Precision Crop Pest Prediction &amp; Agricultural Advisory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2918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9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39C5CF"/>
                </a:solidFill>
              </a:defRPr>
            </a:pPr>
            <a:r>
              <a:t>Docker &amp; Compose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Multi-stage Dockerfile based on python:3.11-slim.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Non-root security execution user.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Exposes Port 8501 (UI) &amp; Port 8000 (API).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docker-compose.yml for one-click local stack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56D364"/>
                </a:solidFill>
              </a:defRPr>
            </a:pPr>
            <a:r>
              <a:t>Cloud Hosting Targets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Streamlit Community Cloud: Native repository deployment.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Render: Web Service deployment via Docker or native Python.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Railway: Instant containerized deployment via GitHub push.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Heroku: Supported via Procfile.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D29922"/>
                </a:solidFill>
              </a:defRPr>
            </a:pPr>
            <a:r>
              <a:t>Configuration &amp; Secrets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.env.example template provided.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Database path &amp; session timeouts configurable.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Zero hardcoded credentials in codebase.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Health probe endpoints for automated uptime monitoring.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6D364"/>
                </a:solidFill>
              </a:defRPr>
            </a:pPr>
            <a: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Disaster Recovery &amp; Data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B949E"/>
                </a:solidFill>
              </a:defRPr>
            </a:pPr>
            <a:r>
              <a:t>AgriAI Advisor v2.2.0 • Precision Crop Pest Prediction &amp; Agricultural Advisory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56D364"/>
                </a:solidFill>
              </a:defRPr>
            </a:pPr>
            <a:r>
              <a:t>Automated Backup Engine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Automated timestamped snapshots of SQLite database.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Enforces a 50 MB total backup storage budget.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Automatic pruning of oldest snapshots when budget is exceeded.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Maintains minimum retention of 5 recent snapshots.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Direct backup download &amp; instant point-in-time restore.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9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39C5CF"/>
                </a:solidFill>
              </a:defRPr>
            </a:pPr>
            <a:r>
              <a:t>Operational Resiliency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SQLite Write-Ahead Logging (WAL) prevents file locking.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Multi-connection thread-safety with 30s busy timeout.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Atomic transaction commits ensure zero database corruption.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Validated via automated backup &amp; restore unit tests.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6D364"/>
                </a:solidFill>
              </a:defRPr>
            </a:pPr>
            <a:r>
              <a:t>FUTURE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Future Scope &amp; Platform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B949E"/>
                </a:solidFill>
              </a:defRPr>
            </a:pPr>
            <a:r>
              <a:t>AgriAI Advisor v2.2.0 • Precision Crop Pest Prediction &amp; Agricultural Advisory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2918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9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39C5CF"/>
                </a:solidFill>
              </a:defRPr>
            </a:pPr>
            <a:r>
              <a:t>Short-Term Roadmap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Computer Vision integration for leaf photograph diagnosis.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Multilingual voice-guided interface for regional dialects.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WhatsApp / SMS automated advisory dispatch.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56D364"/>
                </a:solidFill>
              </a:defRPr>
            </a:pPr>
            <a:r>
              <a:t>Medium-Term Roadmap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IoT soil sensor integration for live NPK telemetry.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Drone imagery integration for aerial field mapping.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Regional pesticide retailer inventory marketplace.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D29922"/>
                </a:solidFill>
              </a:defRPr>
            </a:pPr>
            <a:r>
              <a:t>Long-Term Vision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Pan-India agro-climatic pest migration forecasting.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Government crop insurance claim verification linkage.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Federated learning for privacy-preserving cooperative training.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6D364"/>
                </a:solidFill>
              </a:defRPr>
            </a:pPr>
            <a:r>
              <a:t>PROJECT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Conclusion &amp; Submission Certification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B949E"/>
                </a:solidFill>
              </a:defRPr>
            </a:pPr>
            <a:r>
              <a:t>AgriAI Advisor v2.2.0 • Precision Crop Pest Prediction &amp; Agricultural Advisory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56D364"/>
                </a:solidFill>
              </a:defRPr>
            </a:pPr>
            <a:r>
              <a:t>Project Achievements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✔ 100% Functional &amp; Production Ready.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✔ 249,700 record master dataset verified &amp; sanitized.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✔ Multi-output Gradient Boosting model (94.6% accuracy).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✔ Monotonic Top-3 pest ranking with dynamic risk tiers.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✔ Decoupled agronomic advisory exclusively for Rank-1.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✔ Live Open-Meteo weather with 4-tier fallback.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✔ 91/91 automated regression tests passing.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 rIns="228600" bIns="228600"/>
          <a:lstStyle/>
          <a:p>
            <a:pPr algn="ctr">
              <a:defRPr sz="1400" b="1">
                <a:solidFill>
                  <a:srgbClr val="D29922"/>
                </a:solidFill>
              </a:defRPr>
            </a:pPr>
            <a:r>
              <a:t>Certification &amp; Deliverables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Executive Project Report (PDF)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User &amp; Installation Manuals (PDF)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Technical &amp; Deployment Guides (PDF)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8 High-Resolution Architecture Diagrams (PNG &amp; SVG)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11 UI Screen Captures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Containerized Docker &amp; docker-compose stack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• STATUS: CERTIFIED FOR ACADEMIC &amp; INDUSTRY SUBMISSION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8503920" cy="41148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0F6FC"/>
                </a:solidFill>
              </a:defRPr>
            </a:pPr>
            <a:r>
              <a:t>THANK YOU</a:t>
            </a:r>
          </a:p>
          <a:p>
            <a:pPr algn="ctr">
              <a:spcBef>
                <a:spcPts val="1200"/>
              </a:spcBef>
              <a:defRPr sz="2000">
                <a:solidFill>
                  <a:srgbClr val="56D364"/>
                </a:solidFill>
              </a:defRPr>
            </a:pPr>
            <a:r>
              <a:t>Questions &amp; Interactive Discussion</a:t>
            </a:r>
          </a:p>
          <a:p>
            <a:pPr algn="ctr">
              <a:spcBef>
                <a:spcPts val="2400"/>
              </a:spcBef>
              <a:defRPr sz="1200">
                <a:solidFill>
                  <a:srgbClr val="8B949E"/>
                </a:solidFill>
              </a:defRPr>
            </a:pPr>
            <a:r>
              <a:t>AI-Powered Crop Pest Prediction &amp; Agricultural Advisory System</a:t>
            </a:r>
            <a:br/>
            <a:r>
              <a:t>Author: Shubham Prajapati  |  Project Release v2.2.0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